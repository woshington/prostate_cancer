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743B"/>
                </a:solidFill>
                <a:latin typeface="Calibri"/>
              </a:rPr>
              <a:t>PROPOSTA DE TESE · EXPERIMENTOS POSTERIORES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Graduação Automática do Câncer de Próstata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em Imagens Histopatológicas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DAEA"/>
                </a:solidFill>
                <a:latin typeface="Calibri"/>
              </a:rPr>
              <a:t>Avanços experimentais após a defesa da proposta: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DAEA"/>
                </a:solidFill>
                <a:latin typeface="Calibri"/>
              </a:rPr>
              <a:t>novos backbones, otimização bayesiana, overlap, ensembles e explicabilidade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FB2CC"/>
                </a:solidFill>
                <a:latin typeface="Calibri"/>
              </a:rPr>
              <a:t>Dataset PANDA · Classificação ISUP 0–5 · Abordagem baseada em patches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Woshington Valdeci  ·  Junho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Ponto de partida: o que a proposta entregou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Linha de base estabelecida na defesa da proposta de tese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6035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>
                <a:solidFill>
                  <a:srgbClr val="22262C"/>
                </a:solidFill>
                <a:latin typeface="Calibri"/>
              </a:rPr>
              <a:t>•  Pipeline baseado em patches sobre o dataset PANDA (ISUP 0–5)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22262C"/>
                </a:solidFill>
                <a:latin typeface="Calibri"/>
              </a:rPr>
              <a:t>   –  Filtragem de ruído por entropia (~20% dos patches descartados)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22262C"/>
                </a:solidFill>
                <a:latin typeface="Calibri"/>
              </a:rPr>
              <a:t>   –  Rótulos com codificação ordinal + Focal Loss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>
                <a:solidFill>
                  <a:srgbClr val="22262C"/>
                </a:solidFill>
                <a:latin typeface="Calibri"/>
              </a:rPr>
              <a:t>•  Melhor modelo único da proposta: EfficientNet-B7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22262C"/>
                </a:solidFill>
                <a:latin typeface="Calibri"/>
              </a:rPr>
              <a:t>   –  QWK 0,809 · Acurácia 59,2% no conjunto de teste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600">
                <a:solidFill>
                  <a:srgbClr val="22262C"/>
                </a:solidFill>
                <a:latin typeface="Calibri"/>
              </a:rPr>
              <a:t>•  Principais limitações identificadas: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22262C"/>
                </a:solidFill>
                <a:latin typeface="Calibri"/>
              </a:rPr>
              <a:t>   –  Confusão nas classes intermediárias (ISUP 2–4)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22262C"/>
                </a:solidFill>
                <a:latin typeface="Calibri"/>
              </a:rPr>
              <a:t>   –  Hiperparâmetros ajustados manualmente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>
                <a:solidFill>
                  <a:srgbClr val="22262C"/>
                </a:solidFill>
                <a:latin typeface="Calibri"/>
              </a:rPr>
              <a:t>   –  Único backbone explorado a fundo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737360"/>
            <a:ext cx="2377440" cy="15544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1737360"/>
            <a:ext cx="2377440" cy="73152"/>
          </a:xfrm>
          <a:prstGeom prst="rect">
            <a:avLst/>
          </a:prstGeom>
          <a:solidFill>
            <a:srgbClr val="2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901952"/>
            <a:ext cx="23774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E6FA8"/>
                </a:solidFill>
                <a:latin typeface="Calibri"/>
              </a:rPr>
              <a:t>0,809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834640"/>
            <a:ext cx="23774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QWK — EfficientNet-B7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1737360"/>
            <a:ext cx="2377440" cy="15544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18320" y="1737360"/>
            <a:ext cx="2377440" cy="73152"/>
          </a:xfrm>
          <a:prstGeom prst="rect">
            <a:avLst/>
          </a:prstGeom>
          <a:solidFill>
            <a:srgbClr val="2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901952"/>
            <a:ext cx="23774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E6FA8"/>
                </a:solidFill>
                <a:latin typeface="Calibri"/>
              </a:rPr>
              <a:t>59,2%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834640"/>
            <a:ext cx="23774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Acurácia — B7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6118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743B"/>
                </a:solidFill>
                <a:latin typeface="Calibri"/>
              </a:rPr>
              <a:t>Esta apresentação cobre tudo o que veio DEPOIS ↓</a:t>
            </a:r>
          </a:p>
        </p:txBody>
      </p:sp>
      <p:pic>
        <p:nvPicPr>
          <p:cNvPr id="17" name="Picture 16" descr="b7-entropy-ordinal-focal-confusion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977639"/>
            <a:ext cx="4114800" cy="344820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 agenda da proposta aos experimentos realizados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Cada 'Atividade Futura' da proposta foi executada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55B66"/>
                </a:solidFill>
                <a:latin typeface="Calibri"/>
              </a:rPr>
              <a:t>PREVISTO NA PROPOSTA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50876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55B66"/>
                </a:solidFill>
                <a:latin typeface="Calibri"/>
              </a:rPr>
              <a:t>EXECUTADO APÓS A PROPOSTA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035040" cy="60350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7607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62C"/>
                </a:solidFill>
                <a:latin typeface="Calibri"/>
              </a:rPr>
              <a:t>Atividade 1 — Otimização bayesiana de hiperparâmetros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675120" y="2039112"/>
            <a:ext cx="228600" cy="36576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1920240"/>
            <a:ext cx="4709160" cy="60350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920240"/>
            <a:ext cx="44805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Optuna (HPO) sobre EfficientNetV2-S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33472"/>
            <a:ext cx="6035040" cy="60350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33472"/>
            <a:ext cx="57607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62C"/>
                </a:solidFill>
                <a:latin typeface="Calibri"/>
              </a:rPr>
              <a:t>Atividade 2 — Especialistas para classes intermediárias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675120" y="2752344"/>
            <a:ext cx="228600" cy="36576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49440" y="2633472"/>
            <a:ext cx="4709160" cy="60350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633472"/>
            <a:ext cx="44805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Cascata de especialistas (3,4)/(4,5)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46704"/>
            <a:ext cx="6035040" cy="60350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346704"/>
            <a:ext cx="57607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62C"/>
                </a:solidFill>
                <a:latin typeface="Calibri"/>
              </a:rPr>
              <a:t>Atividade 3 — Estratégias de ensemble (Oracle/meta/incerteza)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675120" y="3465576"/>
            <a:ext cx="228600" cy="36576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9440" y="3346704"/>
            <a:ext cx="4709160" cy="60350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3346704"/>
            <a:ext cx="44805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Ensemble avançado, TTA, MIL+patch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59936"/>
            <a:ext cx="6035040" cy="60350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59936"/>
            <a:ext cx="57607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62C"/>
                </a:solidFill>
                <a:latin typeface="Calibri"/>
              </a:rPr>
              <a:t>Atividade 4 — Novos backbones (ConvNeXt, EfficientNetV2)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675120" y="4178808"/>
            <a:ext cx="228600" cy="36576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0" y="4059936"/>
            <a:ext cx="4709160" cy="60350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4059936"/>
            <a:ext cx="44805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ConvNeXt, EfficientNetV2-S, ViT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773168"/>
            <a:ext cx="6035040" cy="60350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773168"/>
            <a:ext cx="57607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62C"/>
                </a:solidFill>
                <a:latin typeface="Calibri"/>
              </a:rPr>
              <a:t>Adicional — Janelas com sobreposição (overlap)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75120" y="4892040"/>
            <a:ext cx="228600" cy="365760"/>
          </a:xfrm>
          <a:prstGeom prst="rightArrow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9440" y="4773168"/>
            <a:ext cx="4709160" cy="60350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4773168"/>
            <a:ext cx="44805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Patches com overlap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486400"/>
            <a:ext cx="6035040" cy="60350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486400"/>
            <a:ext cx="57607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2262C"/>
                </a:solidFill>
                <a:latin typeface="Calibri"/>
              </a:rPr>
              <a:t>Adicional — Explicabilidade do modelo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675120" y="5605272"/>
            <a:ext cx="228600" cy="365760"/>
          </a:xfrm>
          <a:prstGeom prst="rightArrow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49440" y="5486400"/>
            <a:ext cx="4709160" cy="60350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5486400"/>
            <a:ext cx="44805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Grad-CAM e LIME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RESULTADO 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Otimização bayesiana (Optuna) — EfficientNetV2-S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Atividade 1 da proposta · maior salto de desempenho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2606040" cy="15544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2606040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64792"/>
            <a:ext cx="26060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A9D8F"/>
                </a:solidFill>
                <a:latin typeface="Calibri"/>
              </a:rPr>
              <a:t>0,874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26060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QWK (teste)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600200"/>
            <a:ext cx="2606040" cy="15544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600200"/>
            <a:ext cx="2606040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764792"/>
            <a:ext cx="26060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A9D8F"/>
                </a:solidFill>
                <a:latin typeface="Calibri"/>
              </a:rPr>
              <a:t>71,5%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697480"/>
            <a:ext cx="26060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Acurácia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91840"/>
            <a:ext cx="2606040" cy="15544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291840"/>
            <a:ext cx="2606040" cy="73152"/>
          </a:xfrm>
          <a:prstGeom prst="rect">
            <a:avLst/>
          </a:prstGeom>
          <a:solidFill>
            <a:srgbClr val="2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56432"/>
            <a:ext cx="26060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E6FA8"/>
                </a:solidFill>
                <a:latin typeface="Calibri"/>
              </a:rPr>
              <a:t>0,677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89120"/>
            <a:ext cx="26060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Macro F1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3291840"/>
            <a:ext cx="2606040" cy="15544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46120" y="3291840"/>
            <a:ext cx="2606040" cy="73152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3456432"/>
            <a:ext cx="260604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E8743B"/>
                </a:solidFill>
                <a:latin typeface="Calibri"/>
              </a:rPr>
              <a:t>+0,065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389120"/>
            <a:ext cx="260604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Δ QWK vs. B7 da proposta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983480"/>
            <a:ext cx="539496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5B66"/>
                </a:solidFill>
                <a:latin typeface="Calibri"/>
              </a:rPr>
              <a:t>Hiperparâmetros ótimos (Optuna):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5B66"/>
                </a:solidFill>
                <a:latin typeface="Calibri"/>
              </a:rPr>
              <a:t>lr=1,1e-4 · dropout=0,44 · focal γ=3,43 · focal α=0,17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5B66"/>
                </a:solidFill>
                <a:latin typeface="Calibri"/>
              </a:rPr>
              <a:t>blocos descongelados=3 · batch=4 · weight decay=1,0e-5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5B66"/>
                </a:solidFill>
                <a:latin typeface="Calibri"/>
              </a:rPr>
              <a:t>QWK de validação no melhor trial: 0,874</a:t>
            </a:r>
          </a:p>
        </p:txBody>
      </p:sp>
      <p:pic>
        <p:nvPicPr>
          <p:cNvPr id="24" name="Picture 23" descr="v2-optuna-ordinal-focal-confusion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577840" cy="221778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ATIVIDADE 1 · HPO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Busca de hiperparâmetros com Optuna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Otimização bayesiana substitui o ajuste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Framework Optuna (TPE) maximizando o QWK de validação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Espaço de busca: taxa de aprendizado, dropout, γ e α da focal, nº de blocos descongelados, batch size e weight decay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Backbone: EfficientNetV2-S (codificação ordinal + focal)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Resultado: QWK de validação até 0,874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Convergência estável; melhores trials concentrados em lr≈1e-4 e γ alto (~3,4) — reforça foco em exemplos difíceis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Ganho direto sobre a linha de base ajustada à mão</a:t>
            </a:r>
          </a:p>
        </p:txBody>
      </p:sp>
      <p:pic>
        <p:nvPicPr>
          <p:cNvPr id="8" name="Picture 7" descr="v2-optuna-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00200"/>
            <a:ext cx="6035040" cy="4495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ATIVIDADE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Novos backbones avaliados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ConvNeXt, EfficientNetV2-S e Vision Transformer (ViT)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338328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33832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Arquitetura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645920"/>
            <a:ext cx="182880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1645920"/>
            <a:ext cx="1828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1645920"/>
            <a:ext cx="137160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645920"/>
            <a:ext cx="1371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QWK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645920"/>
            <a:ext cx="155448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645920"/>
            <a:ext cx="1554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Acurácia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1645920"/>
            <a:ext cx="310896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645920"/>
            <a:ext cx="31089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Observação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148840"/>
            <a:ext cx="33832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48840"/>
            <a:ext cx="33832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EfficientNet-B7 (proposta)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2148840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2148840"/>
            <a:ext cx="18288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CNN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0" y="2148840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2148840"/>
            <a:ext cx="13716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262C"/>
                </a:solidFill>
                <a:latin typeface="Calibri"/>
              </a:rPr>
              <a:t>0,809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2148840"/>
            <a:ext cx="1554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2148840"/>
            <a:ext cx="1554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59,2%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2148840"/>
            <a:ext cx="3108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2148840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Linha de 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715768"/>
            <a:ext cx="33832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715768"/>
            <a:ext cx="33832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EfficientNetV2-S + Optuna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2715768"/>
            <a:ext cx="18288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2715768"/>
            <a:ext cx="18288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CNN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0" y="2715768"/>
            <a:ext cx="137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2715768"/>
            <a:ext cx="13716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0,874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2715768"/>
            <a:ext cx="1554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2715768"/>
            <a:ext cx="1554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71,5%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2715768"/>
            <a:ext cx="310896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271576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Melhor modelo único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282696"/>
            <a:ext cx="33832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282696"/>
            <a:ext cx="33832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ConvNeXt-Small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86200" y="3282696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3282696"/>
            <a:ext cx="18288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CNN moderna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0" y="3282696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3282696"/>
            <a:ext cx="13716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262C"/>
                </a:solidFill>
                <a:latin typeface="Calibri"/>
              </a:rPr>
              <a:t>~0,76*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6600" y="3282696"/>
            <a:ext cx="1554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6600" y="3282696"/>
            <a:ext cx="1554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~55%*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41080" y="3282696"/>
            <a:ext cx="31089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328269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*QWK de validação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849624"/>
            <a:ext cx="338328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849624"/>
            <a:ext cx="33832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ViT-Base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86200" y="3849624"/>
            <a:ext cx="182880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86200" y="3849624"/>
            <a:ext cx="18288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Transformer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15000" y="3849624"/>
            <a:ext cx="137160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5000" y="3849624"/>
            <a:ext cx="13716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262C"/>
                </a:solidFill>
                <a:latin typeface="Calibri"/>
              </a:rPr>
              <a:t>0,643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86600" y="3849624"/>
            <a:ext cx="155448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86600" y="3849624"/>
            <a:ext cx="15544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41,8%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41080" y="3849624"/>
            <a:ext cx="310896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41080" y="384962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Pior desempenho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475488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50">
                <a:solidFill>
                  <a:srgbClr val="22262C"/>
                </a:solidFill>
                <a:latin typeface="Calibri"/>
              </a:rPr>
              <a:t>•  CNNs continuam superiores neste regime de dados/patches; EfficientNetV2-S é o melhor compromisso desempenho/custo.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50">
                <a:solidFill>
                  <a:srgbClr val="22262C"/>
                </a:solidFill>
                <a:latin typeface="Calibri"/>
              </a:rPr>
              <a:t>•  ViT exige muito mais dados e regularização — desempenho aquém no cenário atual.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50">
                <a:solidFill>
                  <a:srgbClr val="22262C"/>
                </a:solidFill>
                <a:latin typeface="Calibri"/>
              </a:rPr>
              <a:t>•  ConvNeXt-Small competitivo em validação, abaixo da EfficientNetV2-S otimizada.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ATIVIDADE 4 · CONVNEXT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ConvNeXt como backbone alternativo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CNN moderna inspirada em transformers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Variantes ConvNeXt-Tiny e ConvNeXt-Small testadas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Mesmo pipeline: entropia + codificação ordinal + focal loss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Descongelamento progressivo dos últimos estágios (features)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ConvNeXt-Small: QWK de validação subindo de 0,46 → ~0,76 ao longo do treino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Boa estabilidade de convergência, mas sem superar a EfficientNetV2-S otimizada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Conclusão: arquitetura promissora, porém o ganho veio mais da HPO que da troca de backbone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920240"/>
            <a:ext cx="5120640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ConvNeXt-Small · melhor QWK val ≈ 0,76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743200"/>
            <a:ext cx="5120640" cy="548640"/>
          </a:xfrm>
          <a:prstGeom prst="rect">
            <a:avLst/>
          </a:prstGeom>
          <a:solidFill>
            <a:srgbClr val="2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ConvNeXt-Tiny · convergência estável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512064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>Evolução do QWK de validação (ConvNeXt-Small):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>época 1: 0,463   →   época 7: 0,694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>época 14: 0,716   →   época 23: 0,761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>época 30: 0,752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>Tendência de melhora consistente com early stopping por QWK.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ATIVIDADE 4 ·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Vision Transformer (ViT-Base)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Avaliação de um backbone puramente baseado em atenção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2468880" cy="14630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2468880" cy="73152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24688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555B66"/>
                </a:solidFill>
                <a:latin typeface="Calibri"/>
              </a:rPr>
              <a:t>0,643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24688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QWK (teste)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691640"/>
            <a:ext cx="2468880" cy="14630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691640"/>
            <a:ext cx="2468880" cy="73152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856232"/>
            <a:ext cx="24688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555B66"/>
                </a:solidFill>
                <a:latin typeface="Calibri"/>
              </a:rPr>
              <a:t>41,8%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697480"/>
            <a:ext cx="24688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Acurácia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ViT-Base com fine-tuning dos últimos parâmetros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Desempenho consistentemente abaixo das CNNs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Forte em ISUP 0/1; degrada nas classes intermediárias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Indício de subajuste por volume de dados insuficiente para atenção global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Mantido como referência negativa / análise comparativa</a:t>
            </a:r>
          </a:p>
        </p:txBody>
      </p:sp>
      <p:pic>
        <p:nvPicPr>
          <p:cNvPr id="16" name="Picture 15" descr="vit-entropy-ordinal-focal-confusion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486400" cy="45976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EXPERIMENTO ADICIONAL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Patches com sobreposição (overlap)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Extração de patches com janelas sobrepostas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Motivação: reduzir perda de contexto nas bordas dos patches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Janelas deslizantes com sobreposição vs. patches disjuntos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Testado sobre EfficientNetV2-S / B0 com o mesmo pipeline ordinal+focal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Resultado no teste: QWK 0,852 · Acurácia 65,8% · Macro F1 0,591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Melhor época de validação: QWK 0,863 / Acc 67,0%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2262C"/>
                </a:solidFill>
                <a:latin typeface="Calibri"/>
              </a:rPr>
              <a:t>•  Melhora a cobertura espacial, com custo computacional maior por imagem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37360"/>
            <a:ext cx="2560320" cy="14630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2560320" cy="73152"/>
          </a:xfrm>
          <a:prstGeom prst="rect">
            <a:avLst/>
          </a:prstGeom>
          <a:solidFill>
            <a:srgbClr val="2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01952"/>
            <a:ext cx="25603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E6FA8"/>
                </a:solidFill>
                <a:latin typeface="Calibri"/>
              </a:rPr>
              <a:t>0,852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25603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QWK (teste)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737360"/>
            <a:ext cx="2560320" cy="14630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98280" y="1737360"/>
            <a:ext cx="2560320" cy="73152"/>
          </a:xfrm>
          <a:prstGeom prst="rect">
            <a:avLst/>
          </a:prstGeom>
          <a:solidFill>
            <a:srgbClr val="2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901952"/>
            <a:ext cx="25603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E6FA8"/>
                </a:solidFill>
                <a:latin typeface="Calibri"/>
              </a:rPr>
              <a:t>65,8%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743200"/>
            <a:ext cx="25603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Acurácia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530352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>Configuração: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>• Codificação ordinal + Focal Loss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>• lr ≈ 1,1e-4 (mesma faixa do Optuna)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>• Bootstrap 1000 reamostragens p/ IC 95%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>Faixa de IC 95% do QWK: [0,829 – 0,872]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5B66"/>
                </a:solidFill>
                <a:latin typeface="Calibri"/>
              </a:rPr>
              <a:t>Trade-off: ganho marginal de contexto × maior tempo de extração e treino.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FAMÍLIA EFFICIENTNET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Novas redes B0 e treino só com Focal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Reavaliação da família EfficientNet e da função de perda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Retreino de variantes EfficientNet-B0 com diferentes configurações de perda e espaço de cor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Comparação de codificação ordinal pura vs. ordinal + focal vs. focal somente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Variantes de espaço de cor (XYZ, HED) e regressão ordinal também avaliadas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20440"/>
            <a:ext cx="512064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51206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3520440"/>
            <a:ext cx="18288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352044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QWK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3520440"/>
            <a:ext cx="201168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3520440"/>
            <a:ext cx="20116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Acurácia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3520440"/>
            <a:ext cx="201168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3520440"/>
            <a:ext cx="20116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Macro 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77640"/>
            <a:ext cx="512064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77640"/>
            <a:ext cx="512064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B0 · Entropia + Ordinal + Focal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3977640"/>
            <a:ext cx="1828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3977640"/>
            <a:ext cx="18288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262C"/>
                </a:solidFill>
                <a:latin typeface="Calibri"/>
              </a:rPr>
              <a:t>0,762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3977640"/>
            <a:ext cx="201168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977640"/>
            <a:ext cx="2011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52,6%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3977640"/>
            <a:ext cx="201168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3977640"/>
            <a:ext cx="2011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0,439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89704"/>
            <a:ext cx="5120640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489704"/>
            <a:ext cx="512064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B3 · Entropia + Ordinal + Focal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4489704"/>
            <a:ext cx="1828800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60" y="4489704"/>
            <a:ext cx="18288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262C"/>
                </a:solidFill>
                <a:latin typeface="Calibri"/>
              </a:rPr>
              <a:t>0,848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4489704"/>
            <a:ext cx="2011680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4489704"/>
            <a:ext cx="2011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66,0%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64040" y="4489704"/>
            <a:ext cx="2011680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64040" y="4489704"/>
            <a:ext cx="2011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0,619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001768"/>
            <a:ext cx="512064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001768"/>
            <a:ext cx="512064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B7 · Entropia + Ordinal + Focal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60" y="5001768"/>
            <a:ext cx="1828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60" y="5001768"/>
            <a:ext cx="18288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262C"/>
                </a:solidFill>
                <a:latin typeface="Calibri"/>
              </a:rPr>
              <a:t>0,809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5001768"/>
            <a:ext cx="201168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5001768"/>
            <a:ext cx="2011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59,2%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64040" y="5001768"/>
            <a:ext cx="201168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5001768"/>
            <a:ext cx="2011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0,531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513832"/>
            <a:ext cx="5120640" cy="5120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513832"/>
            <a:ext cx="512064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EfficientNetV2-S + Optuna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5513832"/>
            <a:ext cx="1828800" cy="5120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23560" y="5513832"/>
            <a:ext cx="18288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0,874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5513832"/>
            <a:ext cx="2011680" cy="5120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5513832"/>
            <a:ext cx="2011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71,5%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64040" y="5513832"/>
            <a:ext cx="2011680" cy="5120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64040" y="5513832"/>
            <a:ext cx="2011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0,677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9893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55B66"/>
                </a:solidFill>
                <a:latin typeface="Calibri"/>
              </a:rPr>
              <a:t>Focal Loss melhora o recall das classes raras (ISUP 4/5); o maior ganho global, porém, vem da combinação backbone V2-S + HPO, não da escala B0→B7 isoladamente.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ATIVIDADE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Classificadores especialistas em cascata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Foco nas confusões entre classes intermediárias (3,4) e (4,5)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Modelo base ordinal seguido de especialistas para pares confundidos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Pares treinados: (ISUP 3,4) e (ISUP 4,5)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QWK global praticamente estável (base 0,875 → cascata 0,872)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Ganhos por classe na diagonal da matriz de confusão: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22262C"/>
                </a:solidFill>
                <a:latin typeface="Calibri"/>
              </a:rPr>
              <a:t>   –  ISUP 2: +0,095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22262C"/>
                </a:solidFill>
                <a:latin typeface="Calibri"/>
              </a:rPr>
              <a:t>   –  ISUP 3: +0,124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>
                <a:solidFill>
                  <a:srgbClr val="22262C"/>
                </a:solidFill>
                <a:latin typeface="Calibri"/>
              </a:rPr>
              <a:t>   –  ISUP 1: +0,065 · ISUP 5: +0,054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Recupera acertos em classes difíceis sem comprometer o todo</a:t>
            </a:r>
          </a:p>
        </p:txBody>
      </p:sp>
      <p:pic>
        <p:nvPicPr>
          <p:cNvPr id="8" name="Picture 7" descr="specialist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54480"/>
            <a:ext cx="5852160" cy="24031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ATIVIDADE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Estratégias avançadas de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Agregação de modelos ordinais (média, temperatura, ranking, votação)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402336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4023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Estratégia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645920"/>
            <a:ext cx="18288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Acurácia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645920"/>
            <a:ext cx="173736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45920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QWK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645920"/>
            <a:ext cx="18288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6459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Macro 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03120"/>
            <a:ext cx="402336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03120"/>
            <a:ext cx="4023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Baseline-Mean (melhor)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2103120"/>
            <a:ext cx="182880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1031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71,3%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103120"/>
            <a:ext cx="173736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103120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0,8752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2103120"/>
            <a:ext cx="182880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1031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0,662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560320"/>
            <a:ext cx="402336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560320"/>
            <a:ext cx="4023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Weighted-Mean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2560320"/>
            <a:ext cx="182880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25603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71,5%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560320"/>
            <a:ext cx="173736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560320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262C"/>
                </a:solidFill>
                <a:latin typeface="Calibri"/>
              </a:rPr>
              <a:t>0,8747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2560320"/>
            <a:ext cx="182880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25603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0,663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017520"/>
            <a:ext cx="4023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017520"/>
            <a:ext cx="4023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Conf-Weighted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80" y="30175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30175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71,5%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3017520"/>
            <a:ext cx="1737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017520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262C"/>
                </a:solidFill>
                <a:latin typeface="Calibri"/>
              </a:rPr>
              <a:t>0,8691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30175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30175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0,662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474720"/>
            <a:ext cx="402336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474720"/>
            <a:ext cx="4023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Temperature 2.0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26280" y="3474720"/>
            <a:ext cx="182880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34747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71,3%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474720"/>
            <a:ext cx="173736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3474720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262C"/>
                </a:solidFill>
                <a:latin typeface="Calibri"/>
              </a:rPr>
              <a:t>0,8750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3474720"/>
            <a:ext cx="182880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34747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0,660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931920"/>
            <a:ext cx="4023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931920"/>
            <a:ext cx="4023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Rank Average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26280" y="39319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26280" y="39319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67,6%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3931920"/>
            <a:ext cx="1737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3931920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262C"/>
                </a:solidFill>
                <a:latin typeface="Calibri"/>
              </a:rPr>
              <a:t>0,8741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39319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39319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0,630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389120"/>
            <a:ext cx="402336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4389120"/>
            <a:ext cx="4023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Borda Count / Median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26280" y="4389120"/>
            <a:ext cx="182880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26280" y="43891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69,4%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4389120"/>
            <a:ext cx="173736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4389120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262C"/>
                </a:solidFill>
                <a:latin typeface="Calibri"/>
              </a:rPr>
              <a:t>0,8693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92440" y="4389120"/>
            <a:ext cx="182880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92440" y="43891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0,649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4937760"/>
            <a:ext cx="886968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A média simples dos modelos ordinais é o agregador mais robusto (QWK 0,875). Esquemas mais elaborados (rank, votação, mediana) não superam a média — indício de modelos já bem calibrados e correlacionados.</a:t>
            </a:r>
          </a:p>
        </p:txBody>
      </p:sp>
      <p:pic>
        <p:nvPicPr>
          <p:cNvPr id="64" name="Picture 63" descr="ensemble-advanced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691640"/>
            <a:ext cx="2651760" cy="98299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ATIVIDADE 3 · TTA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Test-Time Augmentation no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8 visões por imagem em tempo de inferência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2560320" cy="14630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2560320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25603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A9D8F"/>
                </a:solidFill>
                <a:latin typeface="Calibri"/>
              </a:rPr>
              <a:t>0,875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25603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QWK (com TTA)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737360"/>
            <a:ext cx="2560320" cy="14630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737360"/>
            <a:ext cx="2560320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901952"/>
            <a:ext cx="25603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A9D8F"/>
                </a:solidFill>
                <a:latin typeface="Calibri"/>
              </a:rPr>
              <a:t>71,4%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43200"/>
            <a:ext cx="25603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Acurácia (com TTA)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2900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8 augmentações em inferência (flips/rotações) com média das predições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Sem TTA: Acc 70,3% · QWK 0,874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Com TTA: Acc 71,4% · QWK 0,875 (Δ QWK +0,001)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Ganho consistente de acurácia (+1,1 p.p.) e Macro F1 (+0,012)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2262C"/>
                </a:solidFill>
                <a:latin typeface="Calibri"/>
              </a:rPr>
              <a:t>•  Melhor IC 95% e maior robustez sem re-treino</a:t>
            </a:r>
          </a:p>
        </p:txBody>
      </p:sp>
      <p:pic>
        <p:nvPicPr>
          <p:cNvPr id="16" name="Picture 15" descr="ensemble-tta-confusion-matrix-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486400" cy="411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ATIVIDADE 3 · MIL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Ensemble MIL + nível de 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Combinação de Multiple Instance Learning com classificador de patches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429768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42976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Estratégia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691640"/>
            <a:ext cx="18288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69164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Acurácia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691640"/>
            <a:ext cx="173736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91640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QWK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1691640"/>
            <a:ext cx="18288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69164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Macro 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48840"/>
            <a:ext cx="429768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48840"/>
            <a:ext cx="4297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Patch-only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2148840"/>
            <a:ext cx="1828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148840"/>
            <a:ext cx="18288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68,1%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2148840"/>
            <a:ext cx="1737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148840"/>
            <a:ext cx="173736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262C"/>
                </a:solidFill>
                <a:latin typeface="Calibri"/>
              </a:rPr>
              <a:t>0,859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2148840"/>
            <a:ext cx="1828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148840"/>
            <a:ext cx="18288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0,616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660904"/>
            <a:ext cx="4297680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660904"/>
            <a:ext cx="4297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MIL-only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2660904"/>
            <a:ext cx="1828800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660904"/>
            <a:ext cx="18288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66,2%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2660904"/>
            <a:ext cx="1737360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660904"/>
            <a:ext cx="173736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262C"/>
                </a:solidFill>
                <a:latin typeface="Calibri"/>
              </a:rPr>
              <a:t>0,845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2660904"/>
            <a:ext cx="1828800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2660904"/>
            <a:ext cx="18288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0,605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172968"/>
            <a:ext cx="429768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172968"/>
            <a:ext cx="4297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Ensemble-Mean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3172968"/>
            <a:ext cx="1828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3172968"/>
            <a:ext cx="18288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69,9%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3172968"/>
            <a:ext cx="1737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3172968"/>
            <a:ext cx="173736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262C"/>
                </a:solidFill>
                <a:latin typeface="Calibri"/>
              </a:rPr>
              <a:t>0,866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3172968"/>
            <a:ext cx="18288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3172968"/>
            <a:ext cx="18288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62C"/>
                </a:solidFill>
                <a:latin typeface="Calibri"/>
              </a:rPr>
              <a:t>0,638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685032"/>
            <a:ext cx="4297680" cy="5120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685032"/>
            <a:ext cx="429768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Ensemble α=0,40 (melhor)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3685032"/>
            <a:ext cx="1828800" cy="5120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0600" y="3685032"/>
            <a:ext cx="18288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70,5%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3685032"/>
            <a:ext cx="1737360" cy="5120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3685032"/>
            <a:ext cx="173736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0,867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3685032"/>
            <a:ext cx="1828800" cy="5120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3685032"/>
            <a:ext cx="1828800" cy="5120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0,647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572000"/>
            <a:ext cx="539496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A fusão ponderada (α=0,40) entre as predições MIL e de patch supera qualquer um isoladamente, combinando contexto global (MIL) e detalhe local (patch).</a:t>
            </a:r>
          </a:p>
        </p:txBody>
      </p:sp>
      <p:pic>
        <p:nvPicPr>
          <p:cNvPr id="48" name="Picture 47" descr="mil-patch-ensemble-confusion-matrix-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486400" cy="41148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EXPERIMENTO ADICIONAL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Explicabilidade: Grad-CAM e LIME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Verificação de que o modelo foca regiões histologicamente relevantes</a:t>
            </a:r>
          </a:p>
        </p:txBody>
      </p:sp>
      <p:pic>
        <p:nvPicPr>
          <p:cNvPr id="7" name="Picture 6" descr="gradcam_entropy_ordinal_f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5577840" cy="1945071"/>
          </a:xfrm>
          <a:prstGeom prst="rect">
            <a:avLst/>
          </a:prstGeom>
        </p:spPr>
      </p:pic>
      <p:pic>
        <p:nvPicPr>
          <p:cNvPr id="8" name="Picture 7" descr="lime_explanation_entropy_ord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486400" cy="19131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0292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22262C"/>
                </a:solidFill>
                <a:latin typeface="Calibri"/>
              </a:rPr>
              <a:t>•  Grad-CAM: mapas de ativação destacam glândulas/regiões tumorais coerentes com o padrão Gleason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22262C"/>
                </a:solidFill>
                <a:latin typeface="Calibri"/>
              </a:rPr>
              <a:t>•  LIME: superpixels mais influentes confirmam que a decisão não se apoia em artefatos/fundo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22262C"/>
                </a:solidFill>
                <a:latin typeface="Calibri"/>
              </a:rPr>
              <a:t>•  Aumenta a confiança clínica e apoia a análise de erros (estudos de caso da tese)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SÍNTESE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Panorama consolidado dos 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55B66"/>
                </a:solidFill>
                <a:latin typeface="Calibri"/>
              </a:rPr>
              <a:t>Todos os experimentos no mesmo conjunto de teste (n=1590, IC 95% por bootstrap)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429768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42976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Experimento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600200"/>
            <a:ext cx="292608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600200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Categoria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80" y="1600200"/>
            <a:ext cx="182880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16002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QWK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55480" y="1600200"/>
            <a:ext cx="192024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1600200"/>
            <a:ext cx="1920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Acurácia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057400"/>
            <a:ext cx="4297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57400"/>
            <a:ext cx="42976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EfficientNet-B7 (proposta)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205740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057400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Linha de 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80" y="205740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20574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262C"/>
                </a:solidFill>
                <a:latin typeface="Calibri"/>
              </a:rPr>
              <a:t>0,809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2057400"/>
            <a:ext cx="1920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057400"/>
            <a:ext cx="1920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59,2%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514600"/>
            <a:ext cx="429768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514600"/>
            <a:ext cx="42976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ViT-Base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2514600"/>
            <a:ext cx="292608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514600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Backbone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80" y="2514600"/>
            <a:ext cx="182880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80" y="25146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262C"/>
                </a:solidFill>
                <a:latin typeface="Calibri"/>
              </a:rPr>
              <a:t>0,643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5480" y="2514600"/>
            <a:ext cx="192024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2514600"/>
            <a:ext cx="1920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41,8%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971800"/>
            <a:ext cx="4297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971800"/>
            <a:ext cx="42976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ConvNeXt-Small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297180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2971800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Backbone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80" y="297180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80" y="29718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262C"/>
                </a:solidFill>
                <a:latin typeface="Calibri"/>
              </a:rPr>
              <a:t>~0,76*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55480" y="2971800"/>
            <a:ext cx="1920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55480" y="2971800"/>
            <a:ext cx="1920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~55%*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429000"/>
            <a:ext cx="429768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429000"/>
            <a:ext cx="42976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Overlap (V2-S)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3429000"/>
            <a:ext cx="292608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0600" y="3429000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Pré-processamento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80" y="3429000"/>
            <a:ext cx="182880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80" y="34290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262C"/>
                </a:solidFill>
                <a:latin typeface="Calibri"/>
              </a:rPr>
              <a:t>0,852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55480" y="3429000"/>
            <a:ext cx="192024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55480" y="3429000"/>
            <a:ext cx="1920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65,8%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886200"/>
            <a:ext cx="429768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886200"/>
            <a:ext cx="42976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EfficientNetV2-S + Optuna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00600" y="3886200"/>
            <a:ext cx="292608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00600" y="3886200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HPO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26680" y="3886200"/>
            <a:ext cx="182880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26680" y="38862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0,874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55480" y="3886200"/>
            <a:ext cx="192024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55480" y="3886200"/>
            <a:ext cx="1920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71,5%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343400"/>
            <a:ext cx="429768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4343400"/>
            <a:ext cx="42976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Cascata de especialistas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00600" y="4343400"/>
            <a:ext cx="292608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00600" y="4343400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Especialistas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26680" y="4343400"/>
            <a:ext cx="182880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26680" y="43434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262C"/>
                </a:solidFill>
                <a:latin typeface="Calibri"/>
              </a:rPr>
              <a:t>0,872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55480" y="4343400"/>
            <a:ext cx="1920240" cy="457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55480" y="4343400"/>
            <a:ext cx="1920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71,3%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800600"/>
            <a:ext cx="4297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4800600"/>
            <a:ext cx="42976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MIL + patch (α=0,40)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00600" y="4800600"/>
            <a:ext cx="2926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00600" y="4800600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Ensemble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26680" y="480060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26680" y="48006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262C"/>
                </a:solidFill>
                <a:latin typeface="Calibri"/>
              </a:rPr>
              <a:t>0,867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55480" y="4800600"/>
            <a:ext cx="1920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55480" y="4800600"/>
            <a:ext cx="1920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2262C"/>
                </a:solidFill>
                <a:latin typeface="Calibri"/>
              </a:rPr>
              <a:t>70,5%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5257800"/>
            <a:ext cx="429768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5257800"/>
            <a:ext cx="42976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Ensemble + TTA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00600" y="5257800"/>
            <a:ext cx="292608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00600" y="5257800"/>
            <a:ext cx="2926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Ensemble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726680" y="5257800"/>
            <a:ext cx="182880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26680" y="52578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0,875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55480" y="5257800"/>
            <a:ext cx="192024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55480" y="5257800"/>
            <a:ext cx="1920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71,4%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580644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55B66"/>
                </a:solidFill>
                <a:latin typeface="Calibri"/>
              </a:rPr>
              <a:t>Destaque: melhor QWK = 0,875 (Ensemble+TTA) e melhor modelo único = 0,874 (V2-S+Optuna) — ganho de +0,066 sobre a proposta.   * ConvNeXt: QWK de validação.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743B"/>
                </a:solidFill>
                <a:latin typeface="Calibri"/>
              </a:rPr>
              <a:t>CONCLUSÕES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O que aprendemos e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9D8F"/>
                </a:solidFill>
                <a:latin typeface="Calibri"/>
              </a:rPr>
              <a:t>PRINCIPAIS ACHADOS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22262C"/>
                </a:solidFill>
                <a:latin typeface="Calibri"/>
              </a:rPr>
              <a:t>•  A otimização bayesiana (Optuna) foi o maior alavancador: QWK 0,809 → 0,874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22262C"/>
                </a:solidFill>
                <a:latin typeface="Calibri"/>
              </a:rPr>
              <a:t>•  EfficientNetV2-S supera B7, ConvNeXt e ViT no regime atual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22262C"/>
                </a:solidFill>
                <a:latin typeface="Calibri"/>
              </a:rPr>
              <a:t>•  Especialistas em cascata recuperam classes intermediárias (ISUP 2/3)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22262C"/>
                </a:solidFill>
                <a:latin typeface="Calibri"/>
              </a:rPr>
              <a:t>•  Ensemble por média + TTA atinge o melhor resultado global (QWK 0,875)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22262C"/>
                </a:solidFill>
                <a:latin typeface="Calibri"/>
              </a:rPr>
              <a:t>•  Overlap e focal loss trazem ganhos pontuais de contexto/classes raras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22262C"/>
                </a:solidFill>
                <a:latin typeface="Calibri"/>
              </a:rPr>
              <a:t>•  Grad-CAM/LIME confirmam foco em regiões histologicamente relevantes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743B"/>
                </a:solidFill>
                <a:latin typeface="Calibri"/>
              </a:rPr>
              <a:t>PRÓXIMOS PASSOS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22262C"/>
                </a:solidFill>
                <a:latin typeface="Calibri"/>
              </a:rPr>
              <a:t>•  Consolidar os resultados no capítulo de Resultados da tese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22262C"/>
                </a:solidFill>
                <a:latin typeface="Calibri"/>
              </a:rPr>
              <a:t>•  Validação cruzada externa (ex.: SICAPv2) e teste de generalização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22262C"/>
                </a:solidFill>
                <a:latin typeface="Calibri"/>
              </a:rPr>
              <a:t>•  Aprofundar fusão MIL × patch e calibração de incerteza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22262C"/>
                </a:solidFill>
                <a:latin typeface="Calibri"/>
              </a:rPr>
              <a:t>•  Redigir e submeter artigos derivados (Atividade 5 da proposta)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22262C"/>
                </a:solidFill>
                <a:latin typeface="Calibri"/>
              </a:rPr>
              <a:t>•  Redação e defesa da tese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55B66"/>
                </a:solidFill>
                <a:latin typeface="Calibri"/>
              </a:rPr>
              <a:t>Doutorado · Graduação automática de câncer de próstata (PANDA)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55B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82296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FDAEA"/>
                </a:solidFill>
                <a:latin typeface="Calibri"/>
              </a:rPr>
              <a:t>Experimentos realizados após a Proposta de Tese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FDAEA"/>
                </a:solidFill>
                <a:latin typeface="Calibri"/>
              </a:rPr>
              <a:t>Melhor resultado: QWK 0,875 · Acurácia 71,4% (Ensemble + TTA)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Woshington Valdeci · Doutorado · Junho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